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моей курсовой работы - разработка системы беспроводного управления гиростабилизируемой платформой. В работе я рассматривал не только отдельный датчик или отдельный интерфейс, а полный программно-аппаратный прототип: микроконтроллер, инерциальный датчик, телеметрию, web-пульт, исполнительный контур и механическую основу корпуса. Основная идея работы - сделать такой стенд, который можно проверять по слоям и дальше использовать для настройки стабилизации.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состоит в том, что гиростабилизируемая платформа является мехатронной системой. Она должна измерять положение, оценивать отклонение и формировать управляющее воздействие. Для защиты важно показать не абстрактный алгоритм, а цепочку: датчик передает данные на микроконтроллер, микроконтроллер формирует телеметрию, интерфейс показывает состояние, а команды доходят до привода. Поэтому цель работы - разработать прототип беспроводного управления такой платформой на базе ESP32-P4-M3, MPU-9250, HTTP/WebSocket и 3D-печатного корпуса.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результате работы получился программно-аппаратный прототип. Был подключен IMU-датчик MPU-9250 по I2C, подтвержден адрес 0x68 и идентификатор WHO_AM_I 0x71. Также была подготовлена прошивка под ESP32-P4-M3, реализована телеметрия, HTTP API, WebSocket-обмен, web-интерфейс оператора и физическая механическая основа в виде сферического корпуса. При этом я отдельно фиксирую ограничение: финальная доводка коэффициентов стабилизации требует дополнительных механических испытаний уже после полной сборки.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сделана слоистой. На нижнем уровне находятся питание, GPIO, I2C, драйвер L293D, TT-моторы и корпус. Выше работает embedded-логика: инициализация, чтение MPU, формирование телеметрии и обработка команд. Дальше идет сетевой слой с Wi-Fi, HTTP API, WebSocket и JSON-состоянием. Над ним расположен backend-мост, который нормализует данные, и frontend-пульт оператора. Такое разделение нужно для отладки: если система ведет себя неправильно, можно отдельно проверить питание, отдельно I2C, отдельно датчик, отдельно API, UI и привод.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Первым критичным результатом была проверка аппаратного подключения. Датчик GY-9250 или MPU-9250 подключался по I2C: SDA на GPIO1, SCL на GPIO2, AD0 на землю для адреса 0x68, а NCS на 3.3 В для режима I2C. Успешным состоянием я считаю два условия одновременно: сканирование шины видит устройство по адресу 0x68, и чтение регистра WHO_AM_I возвращает 0x71. Без такой проверки нельзя переходить к стабилизации, потому что ошибка может быть не в алгоритме, а в проводах, питании или режиме датчика.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Следующий слой - удаленное управление. Интерфейс здесь не декоративный, а диагностический. Через GET /api/telemetry можно получить состояние системы и IMU, через GET /api/wifi - состояние беспроводного интерфейса, через POST /api/command - передать команды Stop, Forward или Reverse, а через WebSocket - получать поток событий. Главное безопасное правило: команда Stop должна быть доступна всегда. Если связь или датчик работают нестабильно, привод должен переводиться в безопасное состояние.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оценки угла используется сочетание акселерометра и гироскопа. Гироскоп хорошо отражает быстрые изменения, но при интегрировании накапливает дрейф. Акселерометр дает долгосрочную привязку к направлению силы тяжести, но чувствителен к шумам и ускорениям. Поэтому в работе заложен комплементарный фильтр, где alpha равно 0.98, а период дискретизации - 20 миллисекунд. После оценки угла считается ошибка относительно целевого положения, а управляющее воздействие формируется ПИД-регулятором с начальными коэффициентами Kp 2.0, Ki 0.1 и Kd 0.5.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Важно, что быстрый контур стабилизации не должен замыкаться через браузер или backend. Wi-Fi нужен для включения режима, настройки параметров и просмотра телеметрии, но расчет управляющего воздействия должен оставаться локально на микроконтроллере. Иначе задержки сети будут напрямую влиять на устойчивость системы. Поэтому правильная логика такая: frontend отправляет режим и параметры, embedded-часть выполняет быстрый контур, а обратно отдает угол, ошибку, управляющее воздействие и состояние привода.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испытаниях я проверял не промышленную стабилизацию, а работоспособность ключевой цепочки. Подтверждено чтение MPU-9250, обновление телеметрии около 48.4 Гц, прохождение команд до исполнительного контура и отображение состояния в интерфейсе. В покое измерения показали малую ошибку, но после большого возмущения система переходит в колебательный режим. Это ожидаемый результат для прототипа без финальной механической настройки коэффициентов и центра масс.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работы - создан программно-аппаратный прототип системы беспроводного управления гиростабилизируемой платформой. В нем есть измерение, телеметрия, удаленный интерфейс, команды управления, безопасный режим остановки и физическая механическая база. Практическая ценность в том, что этот стенд можно использовать для дальнейшей настройки стабилизации, подбора коэффициентов и развития уже более точного мехатронного прототипа.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731520"/>
            <a:ext cx="104241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960120"/>
            <a:ext cx="438912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0515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Факультет информатики, математики и компьютерных наук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74920" y="914400"/>
            <a:ext cx="13716" cy="594360"/>
          </a:xfrm>
          <a:prstGeom prst="rect">
            <a:avLst/>
          </a:prstGeom>
          <a:solidFill>
            <a:srgbClr val="AEB8C7"/>
          </a:solidFill>
          <a:ln w="12700">
            <a:solidFill>
              <a:srgbClr val="AEB8C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285232" y="987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технологии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43800" y="914400"/>
            <a:ext cx="13716" cy="594360"/>
          </a:xfrm>
          <a:prstGeom prst="rect">
            <a:avLst/>
          </a:prstGeom>
          <a:solidFill>
            <a:srgbClr val="AEB8C7"/>
          </a:solidFill>
          <a:ln w="12700">
            <a:solidFill>
              <a:srgbClr val="AEB8C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18120" y="1069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Нижний Новгород,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70432" y="1993392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Разработка системы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беспроводного управления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гиростабилизируемой платформой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170432" y="42245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Выполнил: Ким И.Г., студент 3 курса ОП «Компьютерные науки и технологии»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70432" y="460857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Руководитель: Морозов Н.С., доцент кафедры радиотехники РФФ ННГУ</a:t>
            </a:r>
            <a:endParaRPr lang="en-US" sz="1000" dirty="0"/>
          </a:p>
        </p:txBody>
      </p:sp>
      <p:pic>
        <p:nvPicPr>
          <p:cNvPr id="13" name="Image 1" descr="/mnt/data/gyro_assets/sphere_photo.png">    </p:cNvPr>
          <p:cNvPicPr>
            <a:picLocks noChangeAspect="1"/>
          </p:cNvPicPr>
          <p:nvPr/>
        </p:nvPicPr>
        <p:blipFill>
          <a:blip r:embed="rId2"/>
          <a:srcRect l="2008" r="2008" t="0" b="0"/>
          <a:stretch/>
        </p:blipFill>
        <p:spPr>
          <a:xfrm>
            <a:off x="8229600" y="224028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Введение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Зачем нужна система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задача работы на уровне инженерного прототипа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368" y="2560320"/>
            <a:ext cx="48463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Гиростабилизируемая платформа должна измерять положение и компенсировать отклонение.</a:t>
            </a:r>
          </a:p>
          <a:p/>
          <a:p>
            <a:r>
              <a:t>В работе важен не один модуль, а связка: датчик → МК → телеметрия → интерфейс → привод.</a:t>
            </a:r>
          </a:p>
          <a:p/>
          <a:p>
            <a:r>
              <a:t>Удаленный пульт нужен для диагностики, настройки и безопасного управления стендом.</a:t>
            </a:r>
          </a:p>
        </p:txBody>
      </p:sp>
      <p:sp>
        <p:nvSpPr>
          <p:cNvPr id="17" name="Shape 14"/>
          <p:cNvSpPr/>
          <p:nvPr/>
        </p:nvSpPr>
        <p:spPr>
          <a:xfrm>
            <a:off x="658368" y="5047488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EFF5FD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58368" y="5047488"/>
            <a:ext cx="54864" cy="713232"/>
          </a:xfrm>
          <a:prstGeom prst="rect">
            <a:avLst/>
          </a:prstGeom>
          <a:solidFill>
            <a:srgbClr val="F39C35"/>
          </a:solidFill>
          <a:ln w="12700">
            <a:solidFill>
              <a:srgbClr val="F39C35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22960" y="5175504"/>
            <a:ext cx="45720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Цель: разработать прототип беспроводного управления гиростабилизируемой платформой на базе ESP32-P4-M3, MPU-9250, HTTP/WebSocket и 3D-печатного корпуса.</a:t>
            </a:r>
            <a:endParaRPr lang="en-US" sz="1350" dirty="0"/>
          </a:p>
        </p:txBody>
      </p:sp>
      <p:pic>
        <p:nvPicPr>
          <p:cNvPr id="20" name="Image 1" descr="/mnt/data/gyro_assets/sphere_photo.png">    </p:cNvPr>
          <p:cNvPicPr>
            <a:picLocks noChangeAspect="1"/>
          </p:cNvPicPr>
          <p:nvPr/>
        </p:nvPicPr>
        <p:blipFill>
          <a:blip r:embed="rId2"/>
          <a:srcRect l="0" r="0" t="6133" b="6133"/>
          <a:stretch/>
        </p:blipFill>
        <p:spPr>
          <a:xfrm>
            <a:off x="6400800" y="1920240"/>
            <a:ext cx="4343400" cy="29260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720840" y="519379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720840" y="52806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prototype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275320" y="51937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8275320" y="528066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464040" y="519379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39B6E"/>
          </a:solidFill>
          <a:ln w="12700">
            <a:solidFill>
              <a:srgbClr val="239B6E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9464040" y="52806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control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Что сделано в работе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итог не теоретический, а программно-аппаратный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5800" y="2148840"/>
            <a:ext cx="1664208" cy="1965960"/>
          </a:xfrm>
          <a:prstGeom prst="roundRect">
            <a:avLst>
              <a:gd name="adj" fmla="val 4396"/>
            </a:avLst>
          </a:prstGeom>
          <a:solidFill>
            <a:srgbClr val="F3F7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04672" y="23042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3816" y="27614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IMU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13816" y="3273552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MPU-9250 по I2C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0x68, WHO_AM_I=0x71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88920" y="2148840"/>
            <a:ext cx="1664208" cy="1965960"/>
          </a:xfrm>
          <a:prstGeom prst="roundRect">
            <a:avLst>
              <a:gd name="adj" fmla="val 4396"/>
            </a:avLst>
          </a:prstGeom>
          <a:solidFill>
            <a:srgbClr val="F3F7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2907792" y="23042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916936" y="27614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MCU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916936" y="3273552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ESP32-P4-M3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сборка, прошивка, UART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92040" y="2148840"/>
            <a:ext cx="1664208" cy="1965960"/>
          </a:xfrm>
          <a:prstGeom prst="roundRect">
            <a:avLst>
              <a:gd name="adj" fmla="val 4396"/>
            </a:avLst>
          </a:prstGeom>
          <a:solidFill>
            <a:srgbClr val="F3F7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010912" y="23042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020056" y="27614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API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020056" y="3273552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HTTP API + WebSocket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JSON-телеметрия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95160" y="2148840"/>
            <a:ext cx="1664208" cy="1965960"/>
          </a:xfrm>
          <a:prstGeom prst="roundRect">
            <a:avLst>
              <a:gd name="adj" fmla="val 4396"/>
            </a:avLst>
          </a:prstGeom>
          <a:solidFill>
            <a:srgbClr val="F3F7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114032" y="23042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123176" y="27614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UI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123176" y="3273552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web-пульт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статус, команды, консоль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098280" y="2148840"/>
            <a:ext cx="1664208" cy="1965960"/>
          </a:xfrm>
          <a:prstGeom prst="roundRect">
            <a:avLst>
              <a:gd name="adj" fmla="val 4396"/>
            </a:avLst>
          </a:prstGeom>
          <a:solidFill>
            <a:srgbClr val="EDF7F2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9217152" y="23042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9B6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226296" y="27614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Корпус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226296" y="3273552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модель + печать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сфера 210 мм, PLA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85800" y="4919472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FF5FD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685800" y="4919472"/>
            <a:ext cx="54864" cy="749808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50392" y="5047488"/>
            <a:ext cx="5120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Ключевой результат: получился полноценный для курсовой работы прототип с управлением, телеметрией и физической механической основой.</a:t>
            </a:r>
          </a:p>
        </p:txBody>
      </p:sp>
      <p:sp>
        <p:nvSpPr>
          <p:cNvPr id="39" name="Shape 36"/>
          <p:cNvSpPr/>
          <p:nvPr/>
        </p:nvSpPr>
        <p:spPr>
          <a:xfrm>
            <a:off x="6446520" y="4919472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FF6EB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6446520" y="4919472"/>
            <a:ext cx="54864" cy="749808"/>
          </a:xfrm>
          <a:prstGeom prst="rect">
            <a:avLst/>
          </a:prstGeom>
          <a:solidFill>
            <a:srgbClr val="F39C35"/>
          </a:solidFill>
          <a:ln w="12700">
            <a:solidFill>
              <a:srgbClr val="F39C35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6611112" y="5047488"/>
            <a:ext cx="4114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Дальнейшая настройка может выполняться уже на собранной базе; для формата курсовой работы полученного прототипа достаточно.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Архитектура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Слоистая архитектура прототипа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разделение ошибок по уровням: железо, прошивка, сеть, интерфейс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05840" y="2148840"/>
            <a:ext cx="9738360" cy="475488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005840" y="2148840"/>
            <a:ext cx="146304" cy="475488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25880" y="2258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Пользовательский слой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886200" y="225856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web-пульт: Overview / Control / Console / motor pad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05840" y="2788920"/>
            <a:ext cx="9738360" cy="475488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05840" y="2788920"/>
            <a:ext cx="146304" cy="475488"/>
          </a:xfrm>
          <a:prstGeom prst="rect">
            <a:avLst/>
          </a:prstGeom>
          <a:solidFill>
            <a:srgbClr val="1A5A99"/>
          </a:solidFill>
          <a:ln w="12700">
            <a:solidFill>
              <a:srgbClr val="1A5A99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25880" y="2898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Host-слой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886200" y="289864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backend-мост: serial / Wi-Fi, нормализация данных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05840" y="3429000"/>
            <a:ext cx="9738360" cy="475488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5840" y="3429000"/>
            <a:ext cx="146304" cy="475488"/>
          </a:xfrm>
          <a:prstGeom prst="rect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25880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Сетевой слой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886200" y="353872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Wi-Fi AP, HTTP API, WebSocket, JSON-состояние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05840" y="4069080"/>
            <a:ext cx="9738360" cy="475488"/>
          </a:xfrm>
          <a:prstGeom prst="roundRect">
            <a:avLst>
              <a:gd name="adj" fmla="val 15385"/>
            </a:avLst>
          </a:prstGeom>
          <a:solidFill>
            <a:srgbClr val="F8FAFD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05840" y="4069080"/>
            <a:ext cx="146304" cy="475488"/>
          </a:xfrm>
          <a:prstGeom prst="rect">
            <a:avLst/>
          </a:prstGeom>
          <a:solidFill>
            <a:srgbClr val="4D91D9"/>
          </a:solidFill>
          <a:ln w="12700">
            <a:solidFill>
              <a:srgbClr val="4D91D9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325880" y="4178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Embedded-логика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886200" y="417880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инициализация, MPU, телеметрия, команды, безопасный Stop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005840" y="4709160"/>
            <a:ext cx="9738360" cy="475488"/>
          </a:xfrm>
          <a:prstGeom prst="roundRect">
            <a:avLst>
              <a:gd name="adj" fmla="val 15385"/>
            </a:avLst>
          </a:prstGeom>
          <a:solidFill>
            <a:srgbClr val="F8FAFD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05840" y="4709160"/>
            <a:ext cx="146304" cy="475488"/>
          </a:xfrm>
          <a:prstGeom prst="rect">
            <a:avLst/>
          </a:prstGeom>
          <a:solidFill>
            <a:srgbClr val="89B8E6"/>
          </a:solidFill>
          <a:ln w="12700">
            <a:solidFill>
              <a:srgbClr val="89B8E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32588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Периферия и механика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886200" y="481888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GPIO, I2C, L293D, TT-моторы, питание, корпус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05840" y="5577840"/>
            <a:ext cx="9738360" cy="530352"/>
          </a:xfrm>
          <a:prstGeom prst="roundRect">
            <a:avLst>
              <a:gd name="adj" fmla="val 13793"/>
            </a:avLst>
          </a:prstGeom>
          <a:solidFill>
            <a:srgbClr val="EDF7F2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05840" y="5577840"/>
            <a:ext cx="54864" cy="530352"/>
          </a:xfrm>
          <a:prstGeom prst="rect">
            <a:avLst/>
          </a:prstGeom>
          <a:solidFill>
            <a:srgbClr val="239B6E"/>
          </a:solidFill>
          <a:ln w="12700">
            <a:solidFill>
              <a:srgbClr val="239B6E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170432" y="5705856"/>
            <a:ext cx="9418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Такой подход позволяет отдельно проверять питание, I2C, датчик, телеметрию, API, UI и привод.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Аппаратная часть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Стенд и подключение датчика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минимальная проверка железа перед стабилизацией</a:t>
            </a:r>
            <a:endParaRPr lang="en-US" sz="900" dirty="0"/>
          </a:p>
        </p:txBody>
      </p:sp>
      <p:pic>
        <p:nvPicPr>
          <p:cNvPr id="16" name="Image 1" descr="/mnt/data/gyro_assets/stand_photo.png">    </p:cNvPr>
          <p:cNvPicPr>
            <a:picLocks noChangeAspect="1"/>
          </p:cNvPicPr>
          <p:nvPr/>
        </p:nvPicPr>
        <p:blipFill>
          <a:blip r:embed="rId2"/>
          <a:srcRect l="0" r="0" t="5056" b="5056"/>
          <a:stretch/>
        </p:blipFill>
        <p:spPr>
          <a:xfrm>
            <a:off x="713232" y="2057400"/>
            <a:ext cx="2907792" cy="2487168"/>
          </a:xfrm>
          <a:prstGeom prst="rect">
            <a:avLst/>
          </a:prstGeom>
        </p:spPr>
      </p:pic>
      <p:pic>
        <p:nvPicPr>
          <p:cNvPr id="17" name="Image 2" descr="/mnt/data/gyro_assets/pinout_image.png">    </p:cNvPr>
          <p:cNvPicPr>
            <a:picLocks noChangeAspect="1"/>
          </p:cNvPicPr>
          <p:nvPr/>
        </p:nvPicPr>
        <p:blipFill>
          <a:blip r:embed="rId3"/>
          <a:srcRect l="1988" r="1988" t="0" b="0"/>
          <a:stretch/>
        </p:blipFill>
        <p:spPr>
          <a:xfrm>
            <a:off x="3950208" y="2148840"/>
            <a:ext cx="1828800" cy="19659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537960" y="2057400"/>
            <a:ext cx="3886200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537960" y="2057400"/>
            <a:ext cx="3886200" cy="420624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6675120" y="21854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Линия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503920" y="218541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Подключение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537960" y="2478024"/>
            <a:ext cx="3886200" cy="420624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6675120" y="26060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SDA/SDI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503920" y="2606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GPIO1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537960" y="2898648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6675120" y="302666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SCL/SCLK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503920" y="30266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GPIO2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537960" y="3319272"/>
            <a:ext cx="3886200" cy="420624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6675120" y="34472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AD0/SDO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503920" y="34472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GND → 0x68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537960" y="3739896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6675120" y="38679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NCS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503920" y="386791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 В → I2C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537960" y="4160520"/>
            <a:ext cx="3886200" cy="420624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5" name="Text 30"/>
          <p:cNvSpPr/>
          <p:nvPr/>
        </p:nvSpPr>
        <p:spPr>
          <a:xfrm>
            <a:off x="6675120" y="42885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WHO_AM_I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503920" y="42885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0x71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786384" y="5257800"/>
            <a:ext cx="9921240" cy="566928"/>
          </a:xfrm>
          <a:prstGeom prst="roundRect">
            <a:avLst>
              <a:gd name="adj" fmla="val 12903"/>
            </a:avLst>
          </a:prstGeom>
          <a:solidFill>
            <a:srgbClr val="EFF5FD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38" name="Shape 33"/>
          <p:cNvSpPr/>
          <p:nvPr/>
        </p:nvSpPr>
        <p:spPr>
          <a:xfrm>
            <a:off x="786384" y="5257800"/>
            <a:ext cx="54864" cy="566928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9" name="Text 34"/>
          <p:cNvSpPr/>
          <p:nvPr/>
        </p:nvSpPr>
        <p:spPr>
          <a:xfrm>
            <a:off x="950976" y="5385816"/>
            <a:ext cx="9601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Условие первичной готовности: I2C scan видит 0x68 и чтение WHO_AM_I возвращает 0x71. Без этого переходить к регулятору нельзя.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Удаленное управление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Web-пульт оператора и телеметрия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интерфейс нужен как диагностический инструмент, а не как декоративный экран</a:t>
            </a:r>
            <a:endParaRPr lang="en-US" sz="900" dirty="0"/>
          </a:p>
        </p:txBody>
      </p:sp>
      <p:pic>
        <p:nvPicPr>
          <p:cNvPr id="16" name="Image 1" descr="/mnt/data/gyro_assets/phone_ui.png">    </p:cNvPr>
          <p:cNvPicPr>
            <a:picLocks noChangeAspect="1"/>
          </p:cNvPicPr>
          <p:nvPr/>
        </p:nvPicPr>
        <p:blipFill>
          <a:blip r:embed="rId2"/>
          <a:srcRect l="0" r="0" t="4830" b="4830"/>
          <a:stretch/>
        </p:blipFill>
        <p:spPr>
          <a:xfrm>
            <a:off x="685800" y="2148840"/>
            <a:ext cx="4645152" cy="2240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806440" y="2176272"/>
            <a:ext cx="4892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806440" y="2176272"/>
            <a:ext cx="4892040" cy="438912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5916168" y="231343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Endpoint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092440" y="23134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Назначение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806440" y="2615184"/>
            <a:ext cx="4892040" cy="438912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916168" y="275234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 /api/telemetry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8092440" y="275234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состояние системы и IMU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806440" y="3054096"/>
            <a:ext cx="4892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916168" y="319125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 /api/wifi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8092440" y="319125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статус беспроводного интерфейса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806440" y="3493008"/>
            <a:ext cx="4892040" cy="438912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5916168" y="363016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POST /api/command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8092440" y="363016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команды Stop / Forward / Reverse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806440" y="3931920"/>
            <a:ext cx="4892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5916168" y="40690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 /ws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092440" y="406908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поток событий и обновлений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896112" y="4992624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896112" y="507949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мс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896112" y="544982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задержка команды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2514600" y="4992624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239B6E"/>
          </a:solidFill>
          <a:ln w="12700">
            <a:solidFill>
              <a:srgbClr val="239B6E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2514600" y="507949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48.4 Гц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2441448" y="54498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частота телеметрии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151376" y="4992624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4151376" y="507949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4005072" y="54498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безопасное состояние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925312" y="480060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FFF6EB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43" name="Shape 39"/>
          <p:cNvSpPr/>
          <p:nvPr/>
        </p:nvSpPr>
        <p:spPr>
          <a:xfrm>
            <a:off x="5925312" y="4800600"/>
            <a:ext cx="54864" cy="749808"/>
          </a:xfrm>
          <a:prstGeom prst="rect">
            <a:avLst/>
          </a:prstGeom>
          <a:solidFill>
            <a:srgbClr val="F39C35"/>
          </a:solidFill>
          <a:ln w="12700">
            <a:solidFill>
              <a:srgbClr val="F39C35"/>
            </a:solidFill>
            <a:prstDash val="solid"/>
          </a:ln>
        </p:spPr>
        <p:txBody>
          <a:bodyPr/>
          <a:p/>
        </p:txBody>
      </p:sp>
      <p:sp>
        <p:nvSpPr>
          <p:cNvPr id="44" name="Text 40"/>
          <p:cNvSpPr/>
          <p:nvPr/>
        </p:nvSpPr>
        <p:spPr>
          <a:xfrm>
            <a:off x="6089904" y="4928616"/>
            <a:ext cx="4251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Безопасное правило: команда Stop должна быть доступна всегда; при ошибке связи или датчика привод переводится в безопасное состояние.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Стабилизация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Алгоритм оценки угла и ПИД-регулятор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быстрый контур должен выполняться локально на микроконтроллере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2176272"/>
            <a:ext cx="1508760" cy="850392"/>
          </a:xfrm>
          <a:prstGeom prst="roundRect">
            <a:avLst>
              <a:gd name="adj" fmla="val 8602"/>
            </a:avLst>
          </a:prstGeom>
          <a:solidFill>
            <a:srgbClr val="F1F6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86968" y="23682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акселерометр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 гироскоп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8408" y="2816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данные IMU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331720" y="2423160"/>
            <a:ext cx="438912" cy="210312"/>
          </a:xfrm>
          <a:prstGeom prst="rightArrow">
            <a:avLst/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2898648" y="2176272"/>
            <a:ext cx="1508760" cy="850392"/>
          </a:xfrm>
          <a:prstGeom prst="roundRect">
            <a:avLst>
              <a:gd name="adj" fmla="val 8602"/>
            </a:avLst>
          </a:prstGeom>
          <a:solidFill>
            <a:srgbClr val="F1F6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008376" y="23682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комплементарный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фильтр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099816" y="2816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угол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453128" y="2423160"/>
            <a:ext cx="438912" cy="210312"/>
          </a:xfrm>
          <a:prstGeom prst="rightArrow">
            <a:avLst/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020056" y="2176272"/>
            <a:ext cx="1508760" cy="850392"/>
          </a:xfrm>
          <a:prstGeom prst="roundRect">
            <a:avLst>
              <a:gd name="adj" fmla="val 8602"/>
            </a:avLst>
          </a:prstGeom>
          <a:solidFill>
            <a:srgbClr val="F1F6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129784" y="23682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ошибка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цель - угол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221224" y="2816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e(t)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574536" y="2423160"/>
            <a:ext cx="438912" cy="210312"/>
          </a:xfrm>
          <a:prstGeom prst="rightArrow">
            <a:avLst/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141464" y="2176272"/>
            <a:ext cx="1508760" cy="850392"/>
          </a:xfrm>
          <a:prstGeom prst="roundRect">
            <a:avLst>
              <a:gd name="adj" fmla="val 8602"/>
            </a:avLst>
          </a:prstGeom>
          <a:solidFill>
            <a:srgbClr val="F1F6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251192" y="23682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ПИД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воздействие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42632" y="2816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u(t)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695944" y="2423160"/>
            <a:ext cx="438912" cy="210312"/>
          </a:xfrm>
          <a:prstGeom prst="rightArrow">
            <a:avLst/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9262872" y="2176272"/>
            <a:ext cx="1508760" cy="850392"/>
          </a:xfrm>
          <a:prstGeom prst="roundRect">
            <a:avLst>
              <a:gd name="adj" fmla="val 8602"/>
            </a:avLst>
          </a:prstGeom>
          <a:solidFill>
            <a:srgbClr val="EDF7F2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9372600" y="23682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драйвер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 моторы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464040" y="2816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39B6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L293D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04672" y="3456432"/>
            <a:ext cx="4800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024128" y="38039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2F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= α · (angle + gyro · dt) + (1 - α) · angle_acc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024128" y="4215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α = 0.98, dt = 20 мс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053328" y="3456432"/>
            <a:ext cx="4526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09360" y="380390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2F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Kp · e + Ki · ∫e dt + Kd · de/dt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309360" y="42153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Kp = 2.00, Ki = 0.10, Kd = 0.50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32688" y="5285232"/>
            <a:ext cx="9464040" cy="667512"/>
          </a:xfrm>
          <a:prstGeom prst="roundRect">
            <a:avLst>
              <a:gd name="adj" fmla="val 10959"/>
            </a:avLst>
          </a:prstGeom>
          <a:solidFill>
            <a:srgbClr val="EDF7F2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32688" y="5285232"/>
            <a:ext cx="54864" cy="667512"/>
          </a:xfrm>
          <a:prstGeom prst="rect">
            <a:avLst/>
          </a:prstGeom>
          <a:solidFill>
            <a:srgbClr val="239B6E"/>
          </a:solidFill>
          <a:ln w="12700">
            <a:solidFill>
              <a:srgbClr val="239B6E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97280" y="5413248"/>
            <a:ext cx="91440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Wi-Fi не должен замыкать быстрый контур управления. Frontend включает режим, меняет параметры и показывает телеметрию. Расчет управляющего воздействия остается в embedded-части.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Контур управления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Как команда превращается в движение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логика работы без зависимости стабилизации от браузера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68680" y="21488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3F7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87552" y="239572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014984" y="28163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режим, параметры, команды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2834640" y="2523744"/>
            <a:ext cx="502920" cy="256032"/>
          </a:xfrm>
          <a:prstGeom prst="rightArrow">
            <a:avLst/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474720" y="21488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3F7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593592" y="239572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Backend / API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3621024" y="28163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маршрутизация и нормализация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5440680" y="2523744"/>
            <a:ext cx="502920" cy="256032"/>
          </a:xfrm>
          <a:prstGeom prst="rightArrow">
            <a:avLst/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80760" y="21488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EDF7F2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199632" y="239572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9B6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ESP32-P4-M3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227064" y="28163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быстрый локальный контур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8046720" y="2523744"/>
            <a:ext cx="502920" cy="256032"/>
          </a:xfrm>
          <a:prstGeom prst="rightArrow">
            <a:avLst/>
          </a:prstGeom>
          <a:solidFill>
            <a:srgbClr val="D8E4F2"/>
          </a:solidFill>
          <a:ln w="12700">
            <a:solidFill>
              <a:srgbClr val="D8E4F2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686800" y="21488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3F7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805672" y="239572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Привод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833104" y="28163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воздействие на платформу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896112" y="4224528"/>
            <a:ext cx="4526280" cy="676656"/>
          </a:xfrm>
          <a:prstGeom prst="roundRect">
            <a:avLst>
              <a:gd name="adj" fmla="val 10811"/>
            </a:avLst>
          </a:prstGeom>
          <a:solidFill>
            <a:srgbClr val="EFF5FD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96112" y="4224528"/>
            <a:ext cx="54864" cy="676656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60704" y="4352544"/>
            <a:ext cx="4206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Пульт не считает управляющее воздействие. Он только включает режимы, отправляет параметры и отображает состояние.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5687568" y="4224528"/>
            <a:ext cx="4800600" cy="676656"/>
          </a:xfrm>
          <a:prstGeom prst="roundRect">
            <a:avLst>
              <a:gd name="adj" fmla="val 10811"/>
            </a:avLst>
          </a:prstGeom>
          <a:solidFill>
            <a:srgbClr val="EDF7F2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5687568" y="4224528"/>
            <a:ext cx="54864" cy="676656"/>
          </a:xfrm>
          <a:prstGeom prst="rect">
            <a:avLst/>
          </a:prstGeom>
          <a:solidFill>
            <a:srgbClr val="239B6E"/>
          </a:solidFill>
          <a:ln w="12700">
            <a:solidFill>
              <a:srgbClr val="239B6E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5852160" y="4352544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Алгоритм стабилизации остается на микроконтроллере, потому что только локальный контур может быть достаточно предсказуемым.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914400" y="553212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наблюдаемость: угол → ошибка → воздействие → состояние привода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Испытания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Результаты стендовых испытаний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проверены ключевые узлы программно-аппаратного прототипа</a:t>
            </a:r>
            <a:endParaRPr lang="en-US" sz="900" dirty="0"/>
          </a:p>
        </p:txBody>
      </p:sp>
      <p:pic>
        <p:nvPicPr>
          <p:cNvPr id="16" name="Image 1" descr="/mnt/data/gyro_assets/osc_chart.png">    </p:cNvPr>
          <p:cNvPicPr>
            <a:picLocks noChangeAspect="1"/>
          </p:cNvPicPr>
          <p:nvPr/>
        </p:nvPicPr>
        <p:blipFill>
          <a:blip r:embed="rId2"/>
          <a:srcRect l="0" r="0" t="3567" b="3567"/>
          <a:stretch/>
        </p:blipFill>
        <p:spPr>
          <a:xfrm>
            <a:off x="960120" y="2157984"/>
            <a:ext cx="4480560" cy="1691640"/>
          </a:xfrm>
          <a:prstGeom prst="rect">
            <a:avLst/>
          </a:prstGeom>
        </p:spPr>
      </p:pic>
      <p:pic>
        <p:nvPicPr>
          <p:cNvPr id="17" name="Image 2" descr="/mnt/data/gyro_assets/telemetry_chart.png">    </p:cNvPr>
          <p:cNvPicPr>
            <a:picLocks noChangeAspect="1"/>
          </p:cNvPicPr>
          <p:nvPr/>
        </p:nvPicPr>
        <p:blipFill>
          <a:blip r:embed="rId3"/>
          <a:srcRect l="0" r="0" t="555" b="555"/>
          <a:stretch/>
        </p:blipFill>
        <p:spPr>
          <a:xfrm>
            <a:off x="6355080" y="2157984"/>
            <a:ext cx="3840480" cy="16916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4400" y="4370832"/>
            <a:ext cx="5212080" cy="310896"/>
          </a:xfrm>
          <a:prstGeom prst="rect">
            <a:avLst/>
          </a:prstGeom>
          <a:solidFill>
            <a:srgbClr val="123E7A"/>
          </a:solidFill>
          <a:ln w="127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1024128" y="446227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657600" y="446227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914400" y="4681728"/>
            <a:ext cx="5212080" cy="310896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1024128" y="4773168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Точность в покое</a:t>
            </a:r>
            <a:endParaRPr lang="en-US" sz="840" dirty="0"/>
          </a:p>
        </p:txBody>
      </p:sp>
      <p:sp>
        <p:nvSpPr>
          <p:cNvPr id="23" name="Text 18"/>
          <p:cNvSpPr/>
          <p:nvPr/>
        </p:nvSpPr>
        <p:spPr>
          <a:xfrm>
            <a:off x="3657600" y="477316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RMS = 0.033°</a:t>
            </a:r>
            <a:endParaRPr lang="en-US" sz="840" dirty="0"/>
          </a:p>
        </p:txBody>
      </p:sp>
      <p:sp>
        <p:nvSpPr>
          <p:cNvPr id="24" name="Shape 19"/>
          <p:cNvSpPr/>
          <p:nvPr/>
        </p:nvSpPr>
        <p:spPr>
          <a:xfrm>
            <a:off x="914400" y="4992624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1024128" y="508406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Средняя ошибка</a:t>
            </a:r>
            <a:endParaRPr lang="en-US" sz="840" dirty="0"/>
          </a:p>
        </p:txBody>
      </p:sp>
      <p:sp>
        <p:nvSpPr>
          <p:cNvPr id="26" name="Text 21"/>
          <p:cNvSpPr/>
          <p:nvPr/>
        </p:nvSpPr>
        <p:spPr>
          <a:xfrm>
            <a:off x="3657600" y="508406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0.148°</a:t>
            </a:r>
            <a:endParaRPr lang="en-US" sz="840" dirty="0"/>
          </a:p>
        </p:txBody>
      </p:sp>
      <p:sp>
        <p:nvSpPr>
          <p:cNvPr id="27" name="Shape 22"/>
          <p:cNvSpPr/>
          <p:nvPr/>
        </p:nvSpPr>
        <p:spPr>
          <a:xfrm>
            <a:off x="914400" y="5303520"/>
            <a:ext cx="5212080" cy="310896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1024128" y="539496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Частота телеметрии</a:t>
            </a:r>
            <a:endParaRPr lang="en-US" sz="840" dirty="0"/>
          </a:p>
        </p:txBody>
      </p:sp>
      <p:sp>
        <p:nvSpPr>
          <p:cNvPr id="29" name="Text 24"/>
          <p:cNvSpPr/>
          <p:nvPr/>
        </p:nvSpPr>
        <p:spPr>
          <a:xfrm>
            <a:off x="3657600" y="539496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48.4 Гц</a:t>
            </a:r>
            <a:endParaRPr lang="en-US" sz="840" dirty="0"/>
          </a:p>
        </p:txBody>
      </p:sp>
      <p:sp>
        <p:nvSpPr>
          <p:cNvPr id="30" name="Shape 25"/>
          <p:cNvSpPr/>
          <p:nvPr/>
        </p:nvSpPr>
        <p:spPr>
          <a:xfrm>
            <a:off x="914400" y="5614416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1024128" y="570585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Большое возмущение</a:t>
            </a:r>
            <a:endParaRPr lang="en-US" sz="840" dirty="0"/>
          </a:p>
        </p:txBody>
      </p:sp>
      <p:sp>
        <p:nvSpPr>
          <p:cNvPr id="32" name="Text 27"/>
          <p:cNvSpPr/>
          <p:nvPr/>
        </p:nvSpPr>
        <p:spPr>
          <a:xfrm>
            <a:off x="3657600" y="570585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65.7°</a:t>
            </a:r>
            <a:endParaRPr lang="en-US" sz="840" dirty="0"/>
          </a:p>
        </p:txBody>
      </p:sp>
      <p:sp>
        <p:nvSpPr>
          <p:cNvPr id="33" name="Shape 28"/>
          <p:cNvSpPr/>
          <p:nvPr/>
        </p:nvSpPr>
        <p:spPr>
          <a:xfrm>
            <a:off x="914400" y="5925312"/>
            <a:ext cx="5212080" cy="310896"/>
          </a:xfrm>
          <a:prstGeom prst="rect">
            <a:avLst/>
          </a:prstGeom>
          <a:solidFill>
            <a:srgbClr val="F6F9FC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1024128" y="60167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После возмущения</a:t>
            </a:r>
            <a:endParaRPr lang="en-US" sz="840" dirty="0"/>
          </a:p>
        </p:txBody>
      </p:sp>
      <p:sp>
        <p:nvSpPr>
          <p:cNvPr id="35" name="Text 30"/>
          <p:cNvSpPr/>
          <p:nvPr/>
        </p:nvSpPr>
        <p:spPr>
          <a:xfrm>
            <a:off x="3657600" y="601675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колебательный режим</a:t>
            </a:r>
            <a:endParaRPr lang="en-US" sz="840" dirty="0"/>
          </a:p>
        </p:txBody>
      </p:sp>
      <p:sp>
        <p:nvSpPr>
          <p:cNvPr id="36" name="Shape 31"/>
          <p:cNvSpPr/>
          <p:nvPr/>
        </p:nvSpPr>
        <p:spPr>
          <a:xfrm>
            <a:off x="6537960" y="4434840"/>
            <a:ext cx="3886200" cy="1005840"/>
          </a:xfrm>
          <a:prstGeom prst="roundRect">
            <a:avLst>
              <a:gd name="adj" fmla="val 7273"/>
            </a:avLst>
          </a:prstGeom>
          <a:solidFill>
            <a:srgbClr val="EFF5FD"/>
          </a:solidFill>
          <a:ln w="12700">
            <a:solidFill>
              <a:srgbClr val="D3DFEC"/>
            </a:solidFill>
            <a:prstDash val="solid"/>
          </a:ln>
        </p:spPr>
        <p:txBody>
          <a:bodyPr/>
          <a:p/>
        </p:txBody>
      </p:sp>
      <p:sp>
        <p:nvSpPr>
          <p:cNvPr id="37" name="Shape 32"/>
          <p:cNvSpPr/>
          <p:nvPr/>
        </p:nvSpPr>
        <p:spPr>
          <a:xfrm>
            <a:off x="6537960" y="4434840"/>
            <a:ext cx="54864" cy="1005840"/>
          </a:xfrm>
          <a:prstGeom prst="rect">
            <a:avLst/>
          </a:prstGeom>
          <a:solidFill>
            <a:srgbClr val="239B6E"/>
          </a:solidFill>
          <a:ln w="12700">
            <a:solidFill>
              <a:srgbClr val="239B6E"/>
            </a:solidFill>
            <a:prstDash val="solid"/>
          </a:ln>
        </p:spPr>
        <p:txBody>
          <a:bodyPr/>
          <a:p/>
        </p:txBody>
      </p:sp>
      <p:sp>
        <p:nvSpPr>
          <p:cNvPr id="38" name="Text 33"/>
          <p:cNvSpPr/>
          <p:nvPr/>
        </p:nvSpPr>
        <p:spPr>
          <a:xfrm>
            <a:off x="6702552" y="4562856"/>
            <a:ext cx="35661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Вывод: измерение, телеметрия и командная цепочка показывают, что прототип решает задачу курсовой работы. Небольшая дальнейшая настройка относится уже к развитию стенда.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00255" y="0"/>
            <a:ext cx="0" cy="6858000"/>
          </a:xfrm>
          <a:prstGeom prst="line">
            <a:avLst/>
          </a:prstGeom>
          <a:noFill/>
          <a:ln w="76200">
            <a:solidFill>
              <a:srgbClr val="123E7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gyro_assets/hs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10312"/>
            <a:ext cx="329184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Компьютерные науки и технологии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306324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Гиростабилизируемая платформа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57800" y="246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Выводы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288036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7492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269480" y="164592"/>
            <a:ext cx="9144" cy="411480"/>
          </a:xfrm>
          <a:prstGeom prst="rect">
            <a:avLst/>
          </a:prstGeom>
          <a:solidFill>
            <a:srgbClr val="B5C1D0"/>
          </a:solidFill>
          <a:ln w="12700">
            <a:solidFill>
              <a:srgbClr val="B5C1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835640" y="210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t>10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1024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Итоги работы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 достаточен для курсовой: собрана проверяемая основа системы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96112" y="224028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Создан программно-аппаратный прототип с измерением, телеметрией, UI и физической механической основой.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14400" y="29718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3F8FD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51560" y="31546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44752" y="3182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измерение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370332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MPU-9250, I2C, WHO_AM_I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37560" y="29718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3F8FD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474720" y="31546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867912" y="3182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управление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566160" y="370332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команды, безопасный Stop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60720" y="29718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3F8FD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897880" y="31546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291072" y="3182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наблюдаемость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989320" y="370332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телеметрия, API, WebSocket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183880" y="29718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EDF7F2"/>
          </a:solidFill>
          <a:ln w="12700">
            <a:solidFill>
              <a:srgbClr val="D4DFEA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321040" y="31546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9B6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714232" y="3182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механика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412480" y="370332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E2F5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3D-корпус и стенд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68680" y="562356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E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Спасибо за внимание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НИУ ВШЭ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беспроводного управления гиростабилизируемой платформой</dc:title>
  <dc:subject>Курсовая работа</dc:subject>
  <dc:creator>OpenAI</dc:creator>
  <cp:lastModifiedBy>OpenAI</cp:lastModifiedBy>
  <cp:revision>1</cp:revision>
  <dcterms:created xsi:type="dcterms:W3CDTF">2026-06-06T17:53:29Z</dcterms:created>
  <dcterms:modified xsi:type="dcterms:W3CDTF">2026-06-06T17:53:29Z</dcterms:modified>
</cp:coreProperties>
</file>